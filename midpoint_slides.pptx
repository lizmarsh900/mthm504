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B818EF-A92C-4179-9082-6F48CC1740DE}" v="2" dt="2026-06-15T13:57:49.3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1206" autoAdjust="0"/>
  </p:normalViewPr>
  <p:slideViewPr>
    <p:cSldViewPr snapToGrid="0">
      <p:cViewPr varScale="1">
        <p:scale>
          <a:sx n="48" d="100"/>
          <a:sy n="48" d="100"/>
        </p:scale>
        <p:origin x="67"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sh, Liz" userId="b5bbfa31-01ef-4681-bb0b-9984dfbf5bf8" providerId="ADAL" clId="{F8E8203D-0CBE-4A0C-977F-F9026FD56D39}"/>
    <pc:docChg chg="undo custSel addSld modSld">
      <pc:chgData name="Marsh, Liz" userId="b5bbfa31-01ef-4681-bb0b-9984dfbf5bf8" providerId="ADAL" clId="{F8E8203D-0CBE-4A0C-977F-F9026FD56D39}" dt="2026-06-15T14:48:55.021" v="4290" actId="20577"/>
      <pc:docMkLst>
        <pc:docMk/>
      </pc:docMkLst>
      <pc:sldChg chg="modSp mod">
        <pc:chgData name="Marsh, Liz" userId="b5bbfa31-01ef-4681-bb0b-9984dfbf5bf8" providerId="ADAL" clId="{F8E8203D-0CBE-4A0C-977F-F9026FD56D39}" dt="2026-06-15T14:34:37.553" v="3145" actId="14100"/>
        <pc:sldMkLst>
          <pc:docMk/>
          <pc:sldMk cId="254394778" sldId="256"/>
        </pc:sldMkLst>
        <pc:spChg chg="mod">
          <ac:chgData name="Marsh, Liz" userId="b5bbfa31-01ef-4681-bb0b-9984dfbf5bf8" providerId="ADAL" clId="{F8E8203D-0CBE-4A0C-977F-F9026FD56D39}" dt="2026-06-15T13:58:06.071" v="12" actId="404"/>
          <ac:spMkLst>
            <pc:docMk/>
            <pc:sldMk cId="254394778" sldId="256"/>
            <ac:spMk id="2" creationId="{8A4C3637-70F7-6CFE-03F0-4E0D9FC58C27}"/>
          </ac:spMkLst>
        </pc:spChg>
        <pc:spChg chg="mod">
          <ac:chgData name="Marsh, Liz" userId="b5bbfa31-01ef-4681-bb0b-9984dfbf5bf8" providerId="ADAL" clId="{F8E8203D-0CBE-4A0C-977F-F9026FD56D39}" dt="2026-06-15T14:34:37.553" v="3145" actId="14100"/>
          <ac:spMkLst>
            <pc:docMk/>
            <pc:sldMk cId="254394778" sldId="256"/>
            <ac:spMk id="3" creationId="{09106A01-8DA6-6F03-5DE2-897B84637D11}"/>
          </ac:spMkLst>
        </pc:spChg>
      </pc:sldChg>
      <pc:sldChg chg="modSp new mod modNotesTx">
        <pc:chgData name="Marsh, Liz" userId="b5bbfa31-01ef-4681-bb0b-9984dfbf5bf8" providerId="ADAL" clId="{F8E8203D-0CBE-4A0C-977F-F9026FD56D39}" dt="2026-06-15T14:48:55.021" v="4290" actId="20577"/>
        <pc:sldMkLst>
          <pc:docMk/>
          <pc:sldMk cId="838897575" sldId="257"/>
        </pc:sldMkLst>
        <pc:spChg chg="mod">
          <ac:chgData name="Marsh, Liz" userId="b5bbfa31-01ef-4681-bb0b-9984dfbf5bf8" providerId="ADAL" clId="{F8E8203D-0CBE-4A0C-977F-F9026FD56D39}" dt="2026-06-15T14:00:56.009" v="42" actId="20577"/>
          <ac:spMkLst>
            <pc:docMk/>
            <pc:sldMk cId="838897575" sldId="257"/>
            <ac:spMk id="2" creationId="{773A7B6E-C9C2-CEE2-4244-B3A46419885F}"/>
          </ac:spMkLst>
        </pc:spChg>
        <pc:spChg chg="mod">
          <ac:chgData name="Marsh, Liz" userId="b5bbfa31-01ef-4681-bb0b-9984dfbf5bf8" providerId="ADAL" clId="{F8E8203D-0CBE-4A0C-977F-F9026FD56D39}" dt="2026-06-15T14:16:30.187" v="842" actId="20577"/>
          <ac:spMkLst>
            <pc:docMk/>
            <pc:sldMk cId="838897575" sldId="257"/>
            <ac:spMk id="3" creationId="{D02C9377-CDD5-638C-BFED-751534EF2104}"/>
          </ac:spMkLst>
        </pc:spChg>
      </pc:sldChg>
      <pc:sldChg chg="modSp new mod modNotesTx">
        <pc:chgData name="Marsh, Liz" userId="b5bbfa31-01ef-4681-bb0b-9984dfbf5bf8" providerId="ADAL" clId="{F8E8203D-0CBE-4A0C-977F-F9026FD56D39}" dt="2026-06-15T14:38:44.648" v="3285" actId="20577"/>
        <pc:sldMkLst>
          <pc:docMk/>
          <pc:sldMk cId="2662551942" sldId="258"/>
        </pc:sldMkLst>
        <pc:spChg chg="mod">
          <ac:chgData name="Marsh, Liz" userId="b5bbfa31-01ef-4681-bb0b-9984dfbf5bf8" providerId="ADAL" clId="{F8E8203D-0CBE-4A0C-977F-F9026FD56D39}" dt="2026-06-15T14:17:02.176" v="874" actId="20577"/>
          <ac:spMkLst>
            <pc:docMk/>
            <pc:sldMk cId="2662551942" sldId="258"/>
            <ac:spMk id="2" creationId="{A4817189-D98C-19AB-0396-306BAE8C1D68}"/>
          </ac:spMkLst>
        </pc:spChg>
        <pc:spChg chg="mod">
          <ac:chgData name="Marsh, Liz" userId="b5bbfa31-01ef-4681-bb0b-9984dfbf5bf8" providerId="ADAL" clId="{F8E8203D-0CBE-4A0C-977F-F9026FD56D39}" dt="2026-06-15T14:38:44.648" v="3285" actId="20577"/>
          <ac:spMkLst>
            <pc:docMk/>
            <pc:sldMk cId="2662551942" sldId="258"/>
            <ac:spMk id="3" creationId="{5C728D47-FBB8-0130-2966-CCC4AE6B1CC6}"/>
          </ac:spMkLst>
        </pc:spChg>
      </pc:sldChg>
      <pc:sldChg chg="modSp new mod">
        <pc:chgData name="Marsh, Liz" userId="b5bbfa31-01ef-4681-bb0b-9984dfbf5bf8" providerId="ADAL" clId="{F8E8203D-0CBE-4A0C-977F-F9026FD56D39}" dt="2026-06-15T14:34:20.523" v="3144" actId="20577"/>
        <pc:sldMkLst>
          <pc:docMk/>
          <pc:sldMk cId="3255706205" sldId="259"/>
        </pc:sldMkLst>
        <pc:spChg chg="mod">
          <ac:chgData name="Marsh, Liz" userId="b5bbfa31-01ef-4681-bb0b-9984dfbf5bf8" providerId="ADAL" clId="{F8E8203D-0CBE-4A0C-977F-F9026FD56D39}" dt="2026-06-15T14:34:20.523" v="3144" actId="20577"/>
          <ac:spMkLst>
            <pc:docMk/>
            <pc:sldMk cId="3255706205" sldId="259"/>
            <ac:spMk id="2" creationId="{355B4400-C4A9-146A-FBA8-B7C17B9425C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1F1383-9238-4812-92A0-F04321BD05C0}" type="datetimeFigureOut">
              <a:rPr lang="en-GB" smtClean="0"/>
              <a:t>15/06/2026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652AE0-A20B-4E1C-9175-41E3A927D126}" type="slidenum">
              <a:rPr lang="en-GB" smtClean="0"/>
              <a:t>‹#›</a:t>
            </a:fld>
            <a:endParaRPr lang="en-GB"/>
          </a:p>
        </p:txBody>
      </p:sp>
    </p:spTree>
    <p:extLst>
      <p:ext uri="{BB962C8B-B14F-4D97-AF65-F5344CB8AC3E}">
        <p14:creationId xmlns:p14="http://schemas.microsoft.com/office/powerpoint/2010/main" val="3628445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for this project I was presented with a dataset from England Athletics which had lots of information about </a:t>
            </a:r>
            <a:r>
              <a:rPr lang="en-US" dirty="0" err="1"/>
              <a:t>applicnats</a:t>
            </a:r>
            <a:r>
              <a:rPr lang="en-US" dirty="0"/>
              <a:t> to a Youth Talent </a:t>
            </a:r>
            <a:r>
              <a:rPr lang="en-US" dirty="0" err="1"/>
              <a:t>programme</a:t>
            </a:r>
            <a:r>
              <a:rPr lang="en-US" dirty="0"/>
              <a:t>. This program is designed for talented 16-18 year old athletes in England from a range of track and field disciplines. In order to apply, each had to fill out a standardised application form that was created in partnership with the Uni. This form has questions relating to </a:t>
            </a:r>
            <a:r>
              <a:rPr lang="en-US" dirty="0" err="1"/>
              <a:t>sociodemographics</a:t>
            </a:r>
            <a:r>
              <a:rPr lang="en-US" dirty="0"/>
              <a:t> as well as more sport-specific questions. The dataset itself has all this information in addition to selection outcome.</a:t>
            </a:r>
          </a:p>
          <a:p>
            <a:endParaRPr lang="en-US" dirty="0"/>
          </a:p>
          <a:p>
            <a:r>
              <a:rPr lang="en-US" dirty="0"/>
              <a:t>This dataset hasn’t been used before </a:t>
            </a:r>
            <a:r>
              <a:rPr lang="en-US"/>
              <a:t>and there were </a:t>
            </a:r>
            <a:endParaRPr lang="en-US" dirty="0"/>
          </a:p>
          <a:p>
            <a:endParaRPr lang="en-US" dirty="0"/>
          </a:p>
          <a:p>
            <a:endParaRPr lang="en-GB" dirty="0"/>
          </a:p>
        </p:txBody>
      </p:sp>
      <p:sp>
        <p:nvSpPr>
          <p:cNvPr id="4" name="Slide Number Placeholder 3"/>
          <p:cNvSpPr>
            <a:spLocks noGrp="1"/>
          </p:cNvSpPr>
          <p:nvPr>
            <p:ph type="sldNum" sz="quarter" idx="5"/>
          </p:nvPr>
        </p:nvSpPr>
        <p:spPr/>
        <p:txBody>
          <a:bodyPr/>
          <a:lstStyle/>
          <a:p>
            <a:fld id="{55652AE0-A20B-4E1C-9175-41E3A927D126}" type="slidenum">
              <a:rPr lang="en-GB" smtClean="0"/>
              <a:t>2</a:t>
            </a:fld>
            <a:endParaRPr lang="en-GB"/>
          </a:p>
        </p:txBody>
      </p:sp>
    </p:spTree>
    <p:extLst>
      <p:ext uri="{BB962C8B-B14F-4D97-AF65-F5344CB8AC3E}">
        <p14:creationId xmlns:p14="http://schemas.microsoft.com/office/powerpoint/2010/main" val="3978250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originally, I was presented with quite a long list of selection biases that I could investigate, but I obviously had to narrow this down due to scope and time constraints. In terms of my own interests, I was much more interested in the sociodemographic side of things rather than the sportier, performance side. </a:t>
            </a:r>
          </a:p>
          <a:p>
            <a:endParaRPr lang="en-US" dirty="0"/>
          </a:p>
          <a:p>
            <a:r>
              <a:rPr lang="en-US" dirty="0"/>
              <a:t>I therefore landed on this selection of biases, the first of these being one of the most interesting to me and most discussed in the literature. The relative age effect simply refers to the preference for children born towards the start of the selection year. In the UK our system is obviously set-up so that the start of the year is September, so you will often find an over-representation of kids born in September, October, November in high-level sports teams, which is largely down to maturational differences. Older kids simply tend to be more physically mature and therefore faster, stronger, taller etc.</a:t>
            </a:r>
          </a:p>
          <a:p>
            <a:endParaRPr lang="en-US" dirty="0"/>
          </a:p>
          <a:p>
            <a:r>
              <a:rPr lang="en-US" dirty="0"/>
              <a:t>Next EA was very interested in the geographical representativeness of the sample, so I aim to explore this too. I’ve already made quite a bit of headway in this by mapping the locations of each of the applicants and </a:t>
            </a:r>
            <a:r>
              <a:rPr lang="en-US" dirty="0" err="1"/>
              <a:t>colouring</a:t>
            </a:r>
            <a:r>
              <a:rPr lang="en-US" dirty="0"/>
              <a:t> by success, which you can see here.</a:t>
            </a:r>
          </a:p>
          <a:p>
            <a:endParaRPr lang="en-US" dirty="0"/>
          </a:p>
          <a:p>
            <a:endParaRPr lang="en-GB" dirty="0"/>
          </a:p>
        </p:txBody>
      </p:sp>
      <p:sp>
        <p:nvSpPr>
          <p:cNvPr id="4" name="Slide Number Placeholder 3"/>
          <p:cNvSpPr>
            <a:spLocks noGrp="1"/>
          </p:cNvSpPr>
          <p:nvPr>
            <p:ph type="sldNum" sz="quarter" idx="5"/>
          </p:nvPr>
        </p:nvSpPr>
        <p:spPr/>
        <p:txBody>
          <a:bodyPr/>
          <a:lstStyle/>
          <a:p>
            <a:fld id="{55652AE0-A20B-4E1C-9175-41E3A927D126}" type="slidenum">
              <a:rPr lang="en-GB" smtClean="0"/>
              <a:t>3</a:t>
            </a:fld>
            <a:endParaRPr lang="en-GB"/>
          </a:p>
        </p:txBody>
      </p:sp>
    </p:spTree>
    <p:extLst>
      <p:ext uri="{BB962C8B-B14F-4D97-AF65-F5344CB8AC3E}">
        <p14:creationId xmlns:p14="http://schemas.microsoft.com/office/powerpoint/2010/main" val="76864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7EEA8-3AD2-9257-6A95-4F12829E42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3E13DF3-B905-9407-F429-2A88B7835A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F175055-3D3E-A4E1-D477-5D8586E6A47B}"/>
              </a:ext>
            </a:extLst>
          </p:cNvPr>
          <p:cNvSpPr>
            <a:spLocks noGrp="1"/>
          </p:cNvSpPr>
          <p:nvPr>
            <p:ph type="dt" sz="half" idx="10"/>
          </p:nvPr>
        </p:nvSpPr>
        <p:spPr/>
        <p:txBody>
          <a:bodyPr/>
          <a:lstStyle/>
          <a:p>
            <a:fld id="{84BD6EB6-A736-4805-9C2A-D4103E0968D8}" type="datetimeFigureOut">
              <a:rPr lang="en-GB" smtClean="0"/>
              <a:t>15/06/2026</a:t>
            </a:fld>
            <a:endParaRPr lang="en-GB"/>
          </a:p>
        </p:txBody>
      </p:sp>
      <p:sp>
        <p:nvSpPr>
          <p:cNvPr id="5" name="Footer Placeholder 4">
            <a:extLst>
              <a:ext uri="{FF2B5EF4-FFF2-40B4-BE49-F238E27FC236}">
                <a16:creationId xmlns:a16="http://schemas.microsoft.com/office/drawing/2014/main" id="{71BC4ADF-206E-72F2-0E25-81C8E10F37F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6FEC235-2C3F-F26B-853F-5C4389EC2B22}"/>
              </a:ext>
            </a:extLst>
          </p:cNvPr>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479111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EEBB7-605B-E5D4-C1A2-7C0864076B1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FB6C1E2-2D85-1201-F48B-905F17A465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6F5F1F2-D661-FF7C-CF59-855A42D859C2}"/>
              </a:ext>
            </a:extLst>
          </p:cNvPr>
          <p:cNvSpPr>
            <a:spLocks noGrp="1"/>
          </p:cNvSpPr>
          <p:nvPr>
            <p:ph type="dt" sz="half" idx="10"/>
          </p:nvPr>
        </p:nvSpPr>
        <p:spPr/>
        <p:txBody>
          <a:bodyPr/>
          <a:lstStyle/>
          <a:p>
            <a:fld id="{84BD6EB6-A736-4805-9C2A-D4103E0968D8}" type="datetimeFigureOut">
              <a:rPr lang="en-GB" smtClean="0"/>
              <a:t>15/06/2026</a:t>
            </a:fld>
            <a:endParaRPr lang="en-GB"/>
          </a:p>
        </p:txBody>
      </p:sp>
      <p:sp>
        <p:nvSpPr>
          <p:cNvPr id="5" name="Footer Placeholder 4">
            <a:extLst>
              <a:ext uri="{FF2B5EF4-FFF2-40B4-BE49-F238E27FC236}">
                <a16:creationId xmlns:a16="http://schemas.microsoft.com/office/drawing/2014/main" id="{682656E9-8EF5-7549-A77A-1B22B710640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3446E8-E7EC-3B69-5512-C9067A0AE52D}"/>
              </a:ext>
            </a:extLst>
          </p:cNvPr>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1587349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6FE71-BF8C-42B6-A5E8-776D189B9D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0A0BEC6-19FA-4D43-B15D-A701C6A132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53AA8C-7C7F-AEF9-6C9B-43A47E0BD1D7}"/>
              </a:ext>
            </a:extLst>
          </p:cNvPr>
          <p:cNvSpPr>
            <a:spLocks noGrp="1"/>
          </p:cNvSpPr>
          <p:nvPr>
            <p:ph type="dt" sz="half" idx="10"/>
          </p:nvPr>
        </p:nvSpPr>
        <p:spPr/>
        <p:txBody>
          <a:bodyPr/>
          <a:lstStyle/>
          <a:p>
            <a:fld id="{84BD6EB6-A736-4805-9C2A-D4103E0968D8}" type="datetimeFigureOut">
              <a:rPr lang="en-GB" smtClean="0"/>
              <a:t>15/06/2026</a:t>
            </a:fld>
            <a:endParaRPr lang="en-GB"/>
          </a:p>
        </p:txBody>
      </p:sp>
      <p:sp>
        <p:nvSpPr>
          <p:cNvPr id="5" name="Footer Placeholder 4">
            <a:extLst>
              <a:ext uri="{FF2B5EF4-FFF2-40B4-BE49-F238E27FC236}">
                <a16:creationId xmlns:a16="http://schemas.microsoft.com/office/drawing/2014/main" id="{7F9BB516-D293-C221-2268-F0E36EC3F7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669EC7-0854-AE6E-1946-55C57CA6AF12}"/>
              </a:ext>
            </a:extLst>
          </p:cNvPr>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3937883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28791-269A-DEEB-8C9C-A37BD0BAAFE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B7AA68E-82E3-6CFA-C31D-5DA27B1026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C54E9FF-F9FC-C9E4-6FE6-45C3CAD93D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0A3DD46-362B-C0F8-309F-162A943A9029}"/>
              </a:ext>
            </a:extLst>
          </p:cNvPr>
          <p:cNvSpPr>
            <a:spLocks noGrp="1"/>
          </p:cNvSpPr>
          <p:nvPr>
            <p:ph type="dt" sz="half" idx="10"/>
          </p:nvPr>
        </p:nvSpPr>
        <p:spPr/>
        <p:txBody>
          <a:bodyPr/>
          <a:lstStyle/>
          <a:p>
            <a:fld id="{84BD6EB6-A736-4805-9C2A-D4103E0968D8}" type="datetimeFigureOut">
              <a:rPr lang="en-GB" smtClean="0"/>
              <a:t>15/06/2026</a:t>
            </a:fld>
            <a:endParaRPr lang="en-GB"/>
          </a:p>
        </p:txBody>
      </p:sp>
      <p:sp>
        <p:nvSpPr>
          <p:cNvPr id="6" name="Footer Placeholder 5">
            <a:extLst>
              <a:ext uri="{FF2B5EF4-FFF2-40B4-BE49-F238E27FC236}">
                <a16:creationId xmlns:a16="http://schemas.microsoft.com/office/drawing/2014/main" id="{0468D850-EA05-12A8-1CC8-97DEF62A6D4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E7CF447-72E3-B947-AC40-4A1A2488F3B6}"/>
              </a:ext>
            </a:extLst>
          </p:cNvPr>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125325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33B63-350B-C910-BB2C-EAE4A4773C5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DDC521-0CFB-AE5D-7051-822C3DE022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B28A8-E7A1-EDB4-A20F-9630637C3C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14D89D8-5F61-625F-2E49-EA68115DE4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4B5E0E-EC10-17E3-0AB2-B188AE50F1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68232FE-1CB6-DD5B-2DA3-2C996D9B51EB}"/>
              </a:ext>
            </a:extLst>
          </p:cNvPr>
          <p:cNvSpPr>
            <a:spLocks noGrp="1"/>
          </p:cNvSpPr>
          <p:nvPr>
            <p:ph type="dt" sz="half" idx="10"/>
          </p:nvPr>
        </p:nvSpPr>
        <p:spPr/>
        <p:txBody>
          <a:bodyPr/>
          <a:lstStyle/>
          <a:p>
            <a:fld id="{84BD6EB6-A736-4805-9C2A-D4103E0968D8}" type="datetimeFigureOut">
              <a:rPr lang="en-GB" smtClean="0"/>
              <a:t>15/06/2026</a:t>
            </a:fld>
            <a:endParaRPr lang="en-GB"/>
          </a:p>
        </p:txBody>
      </p:sp>
      <p:sp>
        <p:nvSpPr>
          <p:cNvPr id="8" name="Footer Placeholder 7">
            <a:extLst>
              <a:ext uri="{FF2B5EF4-FFF2-40B4-BE49-F238E27FC236}">
                <a16:creationId xmlns:a16="http://schemas.microsoft.com/office/drawing/2014/main" id="{3D1CCB56-5AAA-5AC8-E715-C6B90282C75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17E88EB-7214-C2D2-42B9-7E841BC95A2F}"/>
              </a:ext>
            </a:extLst>
          </p:cNvPr>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1946616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F61CE-60B9-9231-C84B-858411A7B55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4DCCDD8-14D2-3DE2-121F-DD31F93F0BED}"/>
              </a:ext>
            </a:extLst>
          </p:cNvPr>
          <p:cNvSpPr>
            <a:spLocks noGrp="1"/>
          </p:cNvSpPr>
          <p:nvPr>
            <p:ph type="dt" sz="half" idx="10"/>
          </p:nvPr>
        </p:nvSpPr>
        <p:spPr/>
        <p:txBody>
          <a:bodyPr/>
          <a:lstStyle/>
          <a:p>
            <a:fld id="{84BD6EB6-A736-4805-9C2A-D4103E0968D8}" type="datetimeFigureOut">
              <a:rPr lang="en-GB" smtClean="0"/>
              <a:t>15/06/2026</a:t>
            </a:fld>
            <a:endParaRPr lang="en-GB"/>
          </a:p>
        </p:txBody>
      </p:sp>
      <p:sp>
        <p:nvSpPr>
          <p:cNvPr id="4" name="Footer Placeholder 3">
            <a:extLst>
              <a:ext uri="{FF2B5EF4-FFF2-40B4-BE49-F238E27FC236}">
                <a16:creationId xmlns:a16="http://schemas.microsoft.com/office/drawing/2014/main" id="{AB707676-28F7-DD11-A66A-F4EF26C9276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EF22972-8FF3-DA6A-4B0A-B3BC80C164A0}"/>
              </a:ext>
            </a:extLst>
          </p:cNvPr>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3391848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7BD3D7-89E1-435A-3400-FB8FC63706B1}"/>
              </a:ext>
            </a:extLst>
          </p:cNvPr>
          <p:cNvSpPr>
            <a:spLocks noGrp="1"/>
          </p:cNvSpPr>
          <p:nvPr>
            <p:ph type="dt" sz="half" idx="10"/>
          </p:nvPr>
        </p:nvSpPr>
        <p:spPr/>
        <p:txBody>
          <a:bodyPr/>
          <a:lstStyle/>
          <a:p>
            <a:fld id="{84BD6EB6-A736-4805-9C2A-D4103E0968D8}" type="datetimeFigureOut">
              <a:rPr lang="en-GB" smtClean="0"/>
              <a:t>15/06/2026</a:t>
            </a:fld>
            <a:endParaRPr lang="en-GB"/>
          </a:p>
        </p:txBody>
      </p:sp>
      <p:sp>
        <p:nvSpPr>
          <p:cNvPr id="3" name="Footer Placeholder 2">
            <a:extLst>
              <a:ext uri="{FF2B5EF4-FFF2-40B4-BE49-F238E27FC236}">
                <a16:creationId xmlns:a16="http://schemas.microsoft.com/office/drawing/2014/main" id="{93432133-F5D0-6F93-A7B0-2001C38DE50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7F9662B-AEED-57FC-FF7F-C77D59AF2738}"/>
              </a:ext>
            </a:extLst>
          </p:cNvPr>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1117703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015FA-47F9-1D6E-2236-41B14770B5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8BF2A91-5560-CD53-BF78-D3012A3215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2A05A44-A2DE-9D21-CC5D-5C25F3A330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7D6EE2-3F76-5C19-A642-9427B80AA81E}"/>
              </a:ext>
            </a:extLst>
          </p:cNvPr>
          <p:cNvSpPr>
            <a:spLocks noGrp="1"/>
          </p:cNvSpPr>
          <p:nvPr>
            <p:ph type="dt" sz="half" idx="10"/>
          </p:nvPr>
        </p:nvSpPr>
        <p:spPr/>
        <p:txBody>
          <a:bodyPr/>
          <a:lstStyle/>
          <a:p>
            <a:fld id="{84BD6EB6-A736-4805-9C2A-D4103E0968D8}" type="datetimeFigureOut">
              <a:rPr lang="en-GB" smtClean="0"/>
              <a:t>15/06/2026</a:t>
            </a:fld>
            <a:endParaRPr lang="en-GB"/>
          </a:p>
        </p:txBody>
      </p:sp>
      <p:sp>
        <p:nvSpPr>
          <p:cNvPr id="6" name="Footer Placeholder 5">
            <a:extLst>
              <a:ext uri="{FF2B5EF4-FFF2-40B4-BE49-F238E27FC236}">
                <a16:creationId xmlns:a16="http://schemas.microsoft.com/office/drawing/2014/main" id="{85E12AAE-C1BE-4C3E-4ABA-4C7DA7717DC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FACC440-B931-8D56-9F07-6ACB921F20FB}"/>
              </a:ext>
            </a:extLst>
          </p:cNvPr>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79021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FF5AA-B2FD-69C0-CE9E-64187F2D12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B0110AC-D1EA-C9C5-D03A-3A74572552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9C81B67-B757-047E-A166-B13C790AE3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2C397C-BD93-197C-C3BF-12659126CD55}"/>
              </a:ext>
            </a:extLst>
          </p:cNvPr>
          <p:cNvSpPr>
            <a:spLocks noGrp="1"/>
          </p:cNvSpPr>
          <p:nvPr>
            <p:ph type="dt" sz="half" idx="10"/>
          </p:nvPr>
        </p:nvSpPr>
        <p:spPr/>
        <p:txBody>
          <a:bodyPr/>
          <a:lstStyle/>
          <a:p>
            <a:fld id="{84BD6EB6-A736-4805-9C2A-D4103E0968D8}" type="datetimeFigureOut">
              <a:rPr lang="en-GB" smtClean="0"/>
              <a:t>15/06/2026</a:t>
            </a:fld>
            <a:endParaRPr lang="en-GB"/>
          </a:p>
        </p:txBody>
      </p:sp>
      <p:sp>
        <p:nvSpPr>
          <p:cNvPr id="6" name="Footer Placeholder 5">
            <a:extLst>
              <a:ext uri="{FF2B5EF4-FFF2-40B4-BE49-F238E27FC236}">
                <a16:creationId xmlns:a16="http://schemas.microsoft.com/office/drawing/2014/main" id="{AE806F73-A825-BE20-6FC2-4E795616A69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CE348DC-0599-49F5-2914-4AF2026E0D0B}"/>
              </a:ext>
            </a:extLst>
          </p:cNvPr>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2799241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F1EF8-FB62-4269-68A4-9F89FE31B21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894127C-9405-8AA1-BB0D-8C5D7E3252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6C1FC5B-A22F-A715-6FB6-85A9A518CAC6}"/>
              </a:ext>
            </a:extLst>
          </p:cNvPr>
          <p:cNvSpPr>
            <a:spLocks noGrp="1"/>
          </p:cNvSpPr>
          <p:nvPr>
            <p:ph type="dt" sz="half" idx="10"/>
          </p:nvPr>
        </p:nvSpPr>
        <p:spPr/>
        <p:txBody>
          <a:bodyPr/>
          <a:lstStyle/>
          <a:p>
            <a:fld id="{84BD6EB6-A736-4805-9C2A-D4103E0968D8}" type="datetimeFigureOut">
              <a:rPr lang="en-GB" smtClean="0"/>
              <a:t>15/06/2026</a:t>
            </a:fld>
            <a:endParaRPr lang="en-GB"/>
          </a:p>
        </p:txBody>
      </p:sp>
      <p:sp>
        <p:nvSpPr>
          <p:cNvPr id="5" name="Footer Placeholder 4">
            <a:extLst>
              <a:ext uri="{FF2B5EF4-FFF2-40B4-BE49-F238E27FC236}">
                <a16:creationId xmlns:a16="http://schemas.microsoft.com/office/drawing/2014/main" id="{04E91EE3-2453-6348-A625-88064EA3FD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95161E-92CA-4E24-5367-3FE0491A4A46}"/>
              </a:ext>
            </a:extLst>
          </p:cNvPr>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2431662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B01F75-B52A-8477-A53E-BE99170A2E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C68C197-5F33-9ACD-4147-A1704DF95F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26E59C-75E5-75E4-EA11-E5D77C03B52B}"/>
              </a:ext>
            </a:extLst>
          </p:cNvPr>
          <p:cNvSpPr>
            <a:spLocks noGrp="1"/>
          </p:cNvSpPr>
          <p:nvPr>
            <p:ph type="dt" sz="half" idx="10"/>
          </p:nvPr>
        </p:nvSpPr>
        <p:spPr/>
        <p:txBody>
          <a:bodyPr/>
          <a:lstStyle/>
          <a:p>
            <a:fld id="{84BD6EB6-A736-4805-9C2A-D4103E0968D8}" type="datetimeFigureOut">
              <a:rPr lang="en-GB" smtClean="0"/>
              <a:t>15/06/2026</a:t>
            </a:fld>
            <a:endParaRPr lang="en-GB"/>
          </a:p>
        </p:txBody>
      </p:sp>
      <p:sp>
        <p:nvSpPr>
          <p:cNvPr id="5" name="Footer Placeholder 4">
            <a:extLst>
              <a:ext uri="{FF2B5EF4-FFF2-40B4-BE49-F238E27FC236}">
                <a16:creationId xmlns:a16="http://schemas.microsoft.com/office/drawing/2014/main" id="{9CA56B95-D4E6-CE51-BB8B-04D2B8A0EF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21DBDE6-E72C-A24E-769B-18D23E491156}"/>
              </a:ext>
            </a:extLst>
          </p:cNvPr>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3026704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A42DE2-CEC2-EE59-A9A9-F6D4F37701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186CB14-642F-880B-3C5D-F62634F57F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80713A-F383-6594-B464-706076B4F8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BD6EB6-A736-4805-9C2A-D4103E0968D8}" type="datetimeFigureOut">
              <a:rPr lang="en-GB" smtClean="0"/>
              <a:t>15/06/2026</a:t>
            </a:fld>
            <a:endParaRPr lang="en-GB"/>
          </a:p>
        </p:txBody>
      </p:sp>
      <p:sp>
        <p:nvSpPr>
          <p:cNvPr id="5" name="Footer Placeholder 4">
            <a:extLst>
              <a:ext uri="{FF2B5EF4-FFF2-40B4-BE49-F238E27FC236}">
                <a16:creationId xmlns:a16="http://schemas.microsoft.com/office/drawing/2014/main" id="{AFDB3B7E-D018-6389-D1A9-F0C1D73B4F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5FB2F90-541D-C17A-A4E6-A2D40EE0F0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54C444-2813-407E-BB47-0FEF5FB915C0}" type="slidenum">
              <a:rPr lang="en-GB" smtClean="0"/>
              <a:t>‹#›</a:t>
            </a:fld>
            <a:endParaRPr lang="en-GB"/>
          </a:p>
        </p:txBody>
      </p:sp>
    </p:spTree>
    <p:extLst>
      <p:ext uri="{BB962C8B-B14F-4D97-AF65-F5344CB8AC3E}">
        <p14:creationId xmlns:p14="http://schemas.microsoft.com/office/powerpoint/2010/main" val="1901432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C3637-70F7-6CFE-03F0-4E0D9FC58C27}"/>
              </a:ext>
            </a:extLst>
          </p:cNvPr>
          <p:cNvSpPr>
            <a:spLocks noGrp="1"/>
          </p:cNvSpPr>
          <p:nvPr>
            <p:ph type="ctrTitle"/>
          </p:nvPr>
        </p:nvSpPr>
        <p:spPr/>
        <p:txBody>
          <a:bodyPr>
            <a:noAutofit/>
          </a:bodyPr>
          <a:lstStyle/>
          <a:p>
            <a:r>
              <a:rPr lang="en-US" sz="3600" dirty="0"/>
              <a:t>To what extent are “selection biases” present in the recruitment of adolescent Track and Field (Athletics) athletes onto England Athletics’ Youth Talent </a:t>
            </a:r>
            <a:r>
              <a:rPr lang="en-US" sz="3600" dirty="0" err="1"/>
              <a:t>Programme</a:t>
            </a:r>
            <a:r>
              <a:rPr lang="en-US" sz="3600" dirty="0"/>
              <a:t> between 2021 and 2025? </a:t>
            </a:r>
            <a:endParaRPr lang="en-GB" sz="3600" dirty="0"/>
          </a:p>
        </p:txBody>
      </p:sp>
      <p:sp>
        <p:nvSpPr>
          <p:cNvPr id="3" name="Subtitle 2">
            <a:extLst>
              <a:ext uri="{FF2B5EF4-FFF2-40B4-BE49-F238E27FC236}">
                <a16:creationId xmlns:a16="http://schemas.microsoft.com/office/drawing/2014/main" id="{09106A01-8DA6-6F03-5DE2-897B84637D11}"/>
              </a:ext>
            </a:extLst>
          </p:cNvPr>
          <p:cNvSpPr>
            <a:spLocks noGrp="1"/>
          </p:cNvSpPr>
          <p:nvPr>
            <p:ph type="subTitle" idx="1"/>
          </p:nvPr>
        </p:nvSpPr>
        <p:spPr>
          <a:xfrm>
            <a:off x="1524000" y="4507832"/>
            <a:ext cx="9144000" cy="749968"/>
          </a:xfrm>
        </p:spPr>
        <p:txBody>
          <a:bodyPr/>
          <a:lstStyle/>
          <a:p>
            <a:r>
              <a:rPr lang="en-US" dirty="0"/>
              <a:t>Liz Marsh</a:t>
            </a:r>
            <a:endParaRPr lang="en-GB" dirty="0"/>
          </a:p>
        </p:txBody>
      </p:sp>
    </p:spTree>
    <p:extLst>
      <p:ext uri="{BB962C8B-B14F-4D97-AF65-F5344CB8AC3E}">
        <p14:creationId xmlns:p14="http://schemas.microsoft.com/office/powerpoint/2010/main" val="254394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7B6E-C9C2-CEE2-4244-B3A46419885F}"/>
              </a:ext>
            </a:extLst>
          </p:cNvPr>
          <p:cNvSpPr>
            <a:spLocks noGrp="1"/>
          </p:cNvSpPr>
          <p:nvPr>
            <p:ph type="title"/>
          </p:nvPr>
        </p:nvSpPr>
        <p:spPr/>
        <p:txBody>
          <a:bodyPr/>
          <a:lstStyle/>
          <a:p>
            <a:r>
              <a:rPr lang="en-US" dirty="0"/>
              <a:t>Outline of project</a:t>
            </a:r>
            <a:endParaRPr lang="en-GB" dirty="0"/>
          </a:p>
        </p:txBody>
      </p:sp>
      <p:sp>
        <p:nvSpPr>
          <p:cNvPr id="3" name="Content Placeholder 2">
            <a:extLst>
              <a:ext uri="{FF2B5EF4-FFF2-40B4-BE49-F238E27FC236}">
                <a16:creationId xmlns:a16="http://schemas.microsoft.com/office/drawing/2014/main" id="{D02C9377-CDD5-638C-BFED-751534EF2104}"/>
              </a:ext>
            </a:extLst>
          </p:cNvPr>
          <p:cNvSpPr>
            <a:spLocks noGrp="1"/>
          </p:cNvSpPr>
          <p:nvPr>
            <p:ph idx="1"/>
          </p:nvPr>
        </p:nvSpPr>
        <p:spPr/>
        <p:txBody>
          <a:bodyPr/>
          <a:lstStyle/>
          <a:p>
            <a:r>
              <a:rPr lang="en-US" dirty="0"/>
              <a:t>Dataset from England Athletics (EA) with information on applicants to a Youth Talent </a:t>
            </a:r>
            <a:r>
              <a:rPr lang="en-US" dirty="0" err="1"/>
              <a:t>Programme</a:t>
            </a:r>
            <a:r>
              <a:rPr lang="en-US" dirty="0"/>
              <a:t> (YTP)</a:t>
            </a:r>
            <a:endParaRPr lang="en-GB" dirty="0"/>
          </a:p>
          <a:p>
            <a:pPr lvl="1"/>
            <a:r>
              <a:rPr lang="en-GB" dirty="0"/>
              <a:t>For talented 16–18-year-old athletes in England</a:t>
            </a:r>
          </a:p>
          <a:p>
            <a:pPr lvl="1"/>
            <a:r>
              <a:rPr lang="en-GB" dirty="0"/>
              <a:t>Data from a standardised application form</a:t>
            </a:r>
          </a:p>
          <a:p>
            <a:pPr lvl="1"/>
            <a:r>
              <a:rPr lang="en-GB" dirty="0"/>
              <a:t>Variables relating to </a:t>
            </a:r>
            <a:r>
              <a:rPr lang="en-GB" dirty="0" err="1"/>
              <a:t>sociodemographics</a:t>
            </a:r>
            <a:r>
              <a:rPr lang="en-GB" dirty="0"/>
              <a:t>, sport-specific questions, and selection outcome</a:t>
            </a:r>
          </a:p>
          <a:p>
            <a:r>
              <a:rPr lang="en-GB" dirty="0"/>
              <a:t>Proposed question about whether there are selection biases present that impact the likelihood of selection </a:t>
            </a:r>
          </a:p>
          <a:p>
            <a:endParaRPr lang="en-GB" dirty="0"/>
          </a:p>
          <a:p>
            <a:endParaRPr lang="en-GB" dirty="0"/>
          </a:p>
          <a:p>
            <a:endParaRPr lang="en-GB" dirty="0"/>
          </a:p>
          <a:p>
            <a:endParaRPr lang="en-US" dirty="0"/>
          </a:p>
        </p:txBody>
      </p:sp>
    </p:spTree>
    <p:extLst>
      <p:ext uri="{BB962C8B-B14F-4D97-AF65-F5344CB8AC3E}">
        <p14:creationId xmlns:p14="http://schemas.microsoft.com/office/powerpoint/2010/main" val="838897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17189-D98C-19AB-0396-306BAE8C1D68}"/>
              </a:ext>
            </a:extLst>
          </p:cNvPr>
          <p:cNvSpPr>
            <a:spLocks noGrp="1"/>
          </p:cNvSpPr>
          <p:nvPr>
            <p:ph type="title"/>
          </p:nvPr>
        </p:nvSpPr>
        <p:spPr/>
        <p:txBody>
          <a:bodyPr/>
          <a:lstStyle/>
          <a:p>
            <a:r>
              <a:rPr lang="en-US" dirty="0"/>
              <a:t>Selection biases of interest</a:t>
            </a:r>
            <a:endParaRPr lang="en-GB" dirty="0"/>
          </a:p>
        </p:txBody>
      </p:sp>
      <p:sp>
        <p:nvSpPr>
          <p:cNvPr id="3" name="Content Placeholder 2">
            <a:extLst>
              <a:ext uri="{FF2B5EF4-FFF2-40B4-BE49-F238E27FC236}">
                <a16:creationId xmlns:a16="http://schemas.microsoft.com/office/drawing/2014/main" id="{5C728D47-FBB8-0130-2966-CCC4AE6B1CC6}"/>
              </a:ext>
            </a:extLst>
          </p:cNvPr>
          <p:cNvSpPr>
            <a:spLocks noGrp="1"/>
          </p:cNvSpPr>
          <p:nvPr>
            <p:ph idx="1"/>
          </p:nvPr>
        </p:nvSpPr>
        <p:spPr/>
        <p:txBody>
          <a:bodyPr/>
          <a:lstStyle/>
          <a:p>
            <a:r>
              <a:rPr lang="en-US" dirty="0"/>
              <a:t>Relative age effect</a:t>
            </a:r>
          </a:p>
          <a:p>
            <a:pPr lvl="1"/>
            <a:r>
              <a:rPr lang="en-US" dirty="0"/>
              <a:t>Young sportspeople born towards the start of a selection year more likely to be selected due to differences in maturity</a:t>
            </a:r>
            <a:endParaRPr lang="en-GB" dirty="0"/>
          </a:p>
          <a:p>
            <a:pPr lvl="1"/>
            <a:r>
              <a:rPr lang="en-GB" dirty="0"/>
              <a:t>Large amount of talent identification literature focuses on this effect</a:t>
            </a:r>
          </a:p>
          <a:p>
            <a:r>
              <a:rPr lang="en-GB" dirty="0"/>
              <a:t>Geographical representativeness</a:t>
            </a:r>
          </a:p>
          <a:p>
            <a:pPr lvl="1"/>
            <a:r>
              <a:rPr lang="en-GB" dirty="0"/>
              <a:t>Of interest to those at EA</a:t>
            </a:r>
          </a:p>
          <a:p>
            <a:pPr lvl="1"/>
            <a:endParaRPr lang="en-GB" dirty="0"/>
          </a:p>
          <a:p>
            <a:pPr lvl="1"/>
            <a:endParaRPr lang="en-GB" dirty="0"/>
          </a:p>
          <a:p>
            <a:endParaRPr lang="en-GB" dirty="0"/>
          </a:p>
          <a:p>
            <a:endParaRPr lang="en-GB" dirty="0"/>
          </a:p>
          <a:p>
            <a:endParaRPr lang="en-US" dirty="0"/>
          </a:p>
        </p:txBody>
      </p:sp>
    </p:spTree>
    <p:extLst>
      <p:ext uri="{BB962C8B-B14F-4D97-AF65-F5344CB8AC3E}">
        <p14:creationId xmlns:p14="http://schemas.microsoft.com/office/powerpoint/2010/main" val="2662551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B4400-C4A9-146A-FBA8-B7C17B9425CF}"/>
              </a:ext>
            </a:extLst>
          </p:cNvPr>
          <p:cNvSpPr>
            <a:spLocks noGrp="1"/>
          </p:cNvSpPr>
          <p:nvPr>
            <p:ph type="title"/>
          </p:nvPr>
        </p:nvSpPr>
        <p:spPr/>
        <p:txBody>
          <a:bodyPr/>
          <a:lstStyle/>
          <a:p>
            <a:r>
              <a:rPr lang="en-US" dirty="0"/>
              <a:t>Literature</a:t>
            </a:r>
            <a:endParaRPr lang="en-GB" dirty="0"/>
          </a:p>
        </p:txBody>
      </p:sp>
      <p:sp>
        <p:nvSpPr>
          <p:cNvPr id="3" name="Content Placeholder 2">
            <a:extLst>
              <a:ext uri="{FF2B5EF4-FFF2-40B4-BE49-F238E27FC236}">
                <a16:creationId xmlns:a16="http://schemas.microsoft.com/office/drawing/2014/main" id="{F6325FEF-5190-243F-8482-A7A9749F115E}"/>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255706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12a5d77-fb98-4eee-af32-1334d8f04a53}" enabled="0" method="" siteId="{912a5d77-fb98-4eee-af32-1334d8f04a53}" removed="1"/>
</clbl:labelList>
</file>

<file path=docProps/app.xml><?xml version="1.0" encoding="utf-8"?>
<Properties xmlns="http://schemas.openxmlformats.org/officeDocument/2006/extended-properties" xmlns:vt="http://schemas.openxmlformats.org/officeDocument/2006/docPropsVTypes">
  <TotalTime>0</TotalTime>
  <Words>473</Words>
  <Application>Microsoft Office PowerPoint</Application>
  <PresentationFormat>Widescreen</PresentationFormat>
  <Paragraphs>30</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To what extent are “selection biases” present in the recruitment of adolescent Track and Field (Athletics) athletes onto England Athletics’ Youth Talent Programme between 2021 and 2025? </vt:lpstr>
      <vt:lpstr>Outline of project</vt:lpstr>
      <vt:lpstr>Selection biases of interest</vt:lpstr>
      <vt:lpstr>Literature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Marsh, Liz</dc:creator>
  <cp:lastModifiedBy>Marsh, Liz</cp:lastModifiedBy>
  <cp:revision>1</cp:revision>
  <dcterms:created xsi:type="dcterms:W3CDTF">2026-06-15T13:57:09Z</dcterms:created>
  <dcterms:modified xsi:type="dcterms:W3CDTF">2026-06-15T14:49:02Z</dcterms:modified>
</cp:coreProperties>
</file>